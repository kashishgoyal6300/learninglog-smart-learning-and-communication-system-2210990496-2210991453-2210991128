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gaErmlQx04mSCOMOMox+rE4+H3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f80ca6194_0_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f80ca6194_0_9: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g39f80ca6194_0_9: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f80ca6194_0_1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9f80ca6194_0_17: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39f80ca6194_0_17: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f80ca6194_0_2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9f80ca6194_0_25: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g39f80ca6194_0_25: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20560a75b_1_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20560a75b_1_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d20560a75b_1_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20560a75b_1_1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20560a75b_1_1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d20560a75b_1_14: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20560a75b_1_3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20560a75b_1_31: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3d20560a75b_1_31: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20560a75b_1_2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20560a75b_1_2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d20560a75b_1_2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20560a75b_1_4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20560a75b_1_4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d20560a75b_1_44: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20560a75b_1_5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20560a75b_1_5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20560a75b_1_52: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f80ca6194_0_3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9f80ca6194_0_33: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g39f80ca6194_0_33: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f80ca6194_0_4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9f80ca6194_0_41: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39f80ca6194_0_41: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69d9d67c9_0_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69d9d67c9_0_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e69d9d67c9_0_0: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f80ca6194_0_4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9f80ca6194_0_49: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9f80ca6194_0_49: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8"/>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9"/>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1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0"/>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2"/>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3"/>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3"/>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4"/>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4"/>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5"/>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6"/>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6"/>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7"/>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7"/>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8"/>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8"/>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8"/>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8"/>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8"/>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8"/>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7.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6"/>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6"/>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6"/>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6"/>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6"/>
          <p:cNvGrpSpPr/>
          <p:nvPr/>
        </p:nvGrpSpPr>
        <p:grpSpPr>
          <a:xfrm>
            <a:off x="6146640" y="0"/>
            <a:ext cx="2997000" cy="875880"/>
            <a:chOff x="6146640" y="0"/>
            <a:chExt cx="2997000" cy="875880"/>
          </a:xfrm>
        </p:grpSpPr>
        <p:sp>
          <p:nvSpPr>
            <p:cNvPr id="15" name="Google Shape;15;p6"/>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6"/>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6"/>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6"/>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6"/>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6"/>
          <p:cNvGrpSpPr/>
          <p:nvPr/>
        </p:nvGrpSpPr>
        <p:grpSpPr>
          <a:xfrm>
            <a:off x="6146640" y="0"/>
            <a:ext cx="2997000" cy="875880"/>
            <a:chOff x="6146640" y="0"/>
            <a:chExt cx="2997000" cy="875880"/>
          </a:xfrm>
        </p:grpSpPr>
        <p:sp>
          <p:nvSpPr>
            <p:cNvPr id="21" name="Google Shape;21;p6"/>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6"/>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6"/>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6"/>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6"/>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6"/>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6"/>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 name="Google Shape;28;p6"/>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9" name="Google Shape;29;p6"/>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840631"/>
            <a:ext cx="9144000" cy="571748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Project Presentation of Co-Op Project at Industry (Module-</a:t>
            </a:r>
            <a:r>
              <a:rPr lang="en-US" sz="1800">
                <a:solidFill>
                  <a:schemeClr val="dk1"/>
                </a:solidFill>
                <a:latin typeface="Times New Roman"/>
                <a:ea typeface="Times New Roman"/>
                <a:cs typeface="Times New Roman"/>
                <a:sym typeface="Times New Roman"/>
              </a:rPr>
              <a:t>2</a:t>
            </a:r>
            <a:r>
              <a:rPr b="0" i="0" lang="en-US" sz="18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4800"/>
              <a:buFont typeface="Arial"/>
              <a:buNone/>
            </a:pPr>
            <a:r>
              <a:rPr lang="en-US" sz="4800">
                <a:solidFill>
                  <a:schemeClr val="dk1"/>
                </a:solidFill>
                <a:latin typeface="Times New Roman"/>
                <a:ea typeface="Times New Roman"/>
                <a:cs typeface="Times New Roman"/>
                <a:sym typeface="Times New Roman"/>
              </a:rPr>
              <a:t>Learning Log</a:t>
            </a:r>
            <a:endParaRPr b="0" i="1"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Kashish Goyal , Aastha , Chaitanya Verma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rPr lang="en-US" sz="2000">
                <a:latin typeface="Times New Roman"/>
                <a:ea typeface="Times New Roman"/>
                <a:cs typeface="Times New Roman"/>
                <a:sym typeface="Times New Roman"/>
              </a:rPr>
              <a:t>2210990496 , </a:t>
            </a:r>
            <a:r>
              <a:rPr b="0" i="0" lang="en-US" sz="2000" u="none" cap="none" strike="noStrike">
                <a:solidFill>
                  <a:srgbClr val="000000"/>
                </a:solidFill>
                <a:latin typeface="Times New Roman"/>
                <a:ea typeface="Times New Roman"/>
                <a:cs typeface="Times New Roman"/>
                <a:sym typeface="Times New Roman"/>
              </a:rPr>
              <a:t>2210991128 , 2210991453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Supervised By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rPr lang="en-US" sz="2000">
                <a:latin typeface="Times New Roman"/>
                <a:ea typeface="Times New Roman"/>
                <a:cs typeface="Times New Roman"/>
                <a:sym typeface="Times New Roman"/>
              </a:rPr>
              <a:t>Dr. Rajat Takkar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40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Introduction</a:t>
            </a:r>
            <a:endParaRPr b="0" i="0" sz="30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52646" y="1009704"/>
            <a:ext cx="8838600" cy="48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Overview:</a:t>
            </a:r>
            <a:endParaRPr b="1" i="0" sz="2200" u="none" cap="none" strike="noStrike">
              <a:solidFill>
                <a:srgbClr val="000000"/>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In today’s digital‑first environment, students, interns, and professionals often find it difficult to maintain a structured record of their daily learning. Their notes are usually scattered across diaries, documents, and unorganized digital files, making it hard to track growth, evaluate performance, or analyze learning patterns.</a:t>
            </a:r>
            <a:endParaRPr sz="190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For organizations, this lack of structure reduces visibility into an individual’s day‑to‑day progress, limiting a manager’s ability to assess engagement or provide timely feedback. This leads to poor accountability and breaks continuity in the learning process.</a:t>
            </a:r>
            <a:endParaRPr sz="190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To address these gaps, </a:t>
            </a:r>
            <a:r>
              <a:rPr b="1" lang="en-US" sz="1900">
                <a:solidFill>
                  <a:schemeClr val="dk1"/>
                </a:solidFill>
                <a:latin typeface="Times New Roman"/>
                <a:ea typeface="Times New Roman"/>
                <a:cs typeface="Times New Roman"/>
                <a:sym typeface="Times New Roman"/>
              </a:rPr>
              <a:t>Learning Log</a:t>
            </a:r>
            <a:r>
              <a:rPr lang="en-US" sz="1900">
                <a:solidFill>
                  <a:schemeClr val="dk1"/>
                </a:solidFill>
                <a:latin typeface="Times New Roman"/>
                <a:ea typeface="Times New Roman"/>
                <a:cs typeface="Times New Roman"/>
                <a:sym typeface="Times New Roman"/>
              </a:rPr>
              <a:t> provides a centralized, organized platform for documenting daily learning activities—promoting consistency, transparency, and meaningful performance insights. It supports continuous learning while strengthening responsibility and productivity in professional environments.</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10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f80ca6194_0_9"/>
          <p:cNvSpPr txBox="1"/>
          <p:nvPr/>
        </p:nvSpPr>
        <p:spPr>
          <a:xfrm>
            <a:off x="80150" y="52400"/>
            <a:ext cx="4654200" cy="7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Technology Used</a:t>
            </a:r>
            <a:endParaRPr b="0" i="0" sz="3200" u="none" cap="none" strike="noStrike">
              <a:solidFill>
                <a:schemeClr val="dk1"/>
              </a:solidFill>
              <a:latin typeface="Times New Roman"/>
              <a:ea typeface="Times New Roman"/>
              <a:cs typeface="Times New Roman"/>
              <a:sym typeface="Times New Roman"/>
            </a:endParaRPr>
          </a:p>
        </p:txBody>
      </p:sp>
      <p:sp>
        <p:nvSpPr>
          <p:cNvPr id="98" name="Google Shape;98;g39f80ca6194_0_9"/>
          <p:cNvSpPr txBox="1"/>
          <p:nvPr/>
        </p:nvSpPr>
        <p:spPr>
          <a:xfrm>
            <a:off x="0" y="900025"/>
            <a:ext cx="8849100" cy="70575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chemeClr val="dk1"/>
              </a:buClr>
              <a:buSzPts val="2100"/>
              <a:buFont typeface="Times New Roman"/>
              <a:buChar char="●"/>
            </a:pPr>
            <a:r>
              <a:rPr b="1" lang="en-US" sz="2100">
                <a:solidFill>
                  <a:schemeClr val="dk1"/>
                </a:solidFill>
                <a:latin typeface="Times New Roman"/>
                <a:ea typeface="Times New Roman"/>
                <a:cs typeface="Times New Roman"/>
                <a:sym typeface="Times New Roman"/>
              </a:rPr>
              <a:t>Backend Framework:</a:t>
            </a:r>
            <a:r>
              <a:rPr lang="en-US" sz="2100">
                <a:solidFill>
                  <a:schemeClr val="dk1"/>
                </a:solidFill>
                <a:latin typeface="Times New Roman"/>
                <a:ea typeface="Times New Roman"/>
                <a:cs typeface="Times New Roman"/>
                <a:sym typeface="Times New Roman"/>
              </a:rPr>
              <a:t> Spring Boot for fast, secure, and scalable </a:t>
            </a:r>
            <a:endParaRPr sz="2100">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rPr lang="en-US" sz="2100">
                <a:solidFill>
                  <a:schemeClr val="dk1"/>
                </a:solidFill>
                <a:latin typeface="Times New Roman"/>
                <a:ea typeface="Times New Roman"/>
                <a:cs typeface="Times New Roman"/>
                <a:sym typeface="Times New Roman"/>
              </a:rPr>
              <a:t>server‑side processing</a:t>
            </a:r>
            <a:endParaRPr sz="2100">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361950" lvl="0" marL="457200" rtl="0" algn="l">
              <a:lnSpc>
                <a:spcPct val="142857"/>
              </a:lnSpc>
              <a:spcBef>
                <a:spcPts val="0"/>
              </a:spcBef>
              <a:spcAft>
                <a:spcPts val="0"/>
              </a:spcAft>
              <a:buClr>
                <a:schemeClr val="dk1"/>
              </a:buClr>
              <a:buSzPts val="2100"/>
              <a:buFont typeface="Times New Roman"/>
              <a:buChar char="●"/>
            </a:pPr>
            <a:r>
              <a:rPr b="1" lang="en-US" sz="2100">
                <a:solidFill>
                  <a:schemeClr val="dk1"/>
                </a:solidFill>
                <a:latin typeface="Times New Roman"/>
                <a:ea typeface="Times New Roman"/>
                <a:cs typeface="Times New Roman"/>
                <a:sym typeface="Times New Roman"/>
              </a:rPr>
              <a:t>Frontend Framework:</a:t>
            </a:r>
            <a:r>
              <a:rPr lang="en-US" sz="2100">
                <a:solidFill>
                  <a:schemeClr val="dk1"/>
                </a:solidFill>
                <a:latin typeface="Times New Roman"/>
                <a:ea typeface="Times New Roman"/>
                <a:cs typeface="Times New Roman"/>
                <a:sym typeface="Times New Roman"/>
              </a:rPr>
              <a:t> React.js for a smooth, interactive, and user‑friendly UI</a:t>
            </a:r>
            <a:endParaRPr sz="2100">
              <a:solidFill>
                <a:schemeClr val="dk1"/>
              </a:solidFill>
              <a:latin typeface="Times New Roman"/>
              <a:ea typeface="Times New Roman"/>
              <a:cs typeface="Times New Roman"/>
              <a:sym typeface="Times New Roman"/>
            </a:endParaRPr>
          </a:p>
          <a:p>
            <a:pPr indent="-361950" lvl="0" marL="457200" rtl="0" algn="l">
              <a:lnSpc>
                <a:spcPct val="142857"/>
              </a:lnSpc>
              <a:spcBef>
                <a:spcPts val="0"/>
              </a:spcBef>
              <a:spcAft>
                <a:spcPts val="0"/>
              </a:spcAft>
              <a:buClr>
                <a:schemeClr val="dk1"/>
              </a:buClr>
              <a:buSzPts val="2100"/>
              <a:buFont typeface="Times New Roman"/>
              <a:buChar char="●"/>
            </a:pPr>
            <a:r>
              <a:rPr b="1" lang="en-US" sz="2100">
                <a:solidFill>
                  <a:schemeClr val="dk1"/>
                </a:solidFill>
                <a:latin typeface="Times New Roman"/>
                <a:ea typeface="Times New Roman"/>
                <a:cs typeface="Times New Roman"/>
                <a:sym typeface="Times New Roman"/>
              </a:rPr>
              <a:t>Database:</a:t>
            </a:r>
            <a:r>
              <a:rPr lang="en-US" sz="2100">
                <a:solidFill>
                  <a:schemeClr val="dk1"/>
                </a:solidFill>
                <a:latin typeface="Times New Roman"/>
                <a:ea typeface="Times New Roman"/>
                <a:cs typeface="Times New Roman"/>
                <a:sym typeface="Times New Roman"/>
              </a:rPr>
              <a:t> MySQL to securely store user logs, profiles, and activity records</a:t>
            </a:r>
            <a:endParaRPr sz="2100">
              <a:solidFill>
                <a:schemeClr val="dk1"/>
              </a:solidFill>
              <a:latin typeface="Times New Roman"/>
              <a:ea typeface="Times New Roman"/>
              <a:cs typeface="Times New Roman"/>
              <a:sym typeface="Times New Roman"/>
            </a:endParaRPr>
          </a:p>
          <a:p>
            <a:pPr indent="-361950" lvl="0" marL="457200" rtl="0" algn="l">
              <a:lnSpc>
                <a:spcPct val="142857"/>
              </a:lnSpc>
              <a:spcBef>
                <a:spcPts val="0"/>
              </a:spcBef>
              <a:spcAft>
                <a:spcPts val="0"/>
              </a:spcAft>
              <a:buClr>
                <a:schemeClr val="dk1"/>
              </a:buClr>
              <a:buSzPts val="2100"/>
              <a:buFont typeface="Times New Roman"/>
              <a:buChar char="●"/>
            </a:pPr>
            <a:r>
              <a:rPr b="1" lang="en-US" sz="2100">
                <a:solidFill>
                  <a:schemeClr val="dk1"/>
                </a:solidFill>
                <a:latin typeface="Times New Roman"/>
                <a:ea typeface="Times New Roman"/>
                <a:cs typeface="Times New Roman"/>
                <a:sym typeface="Times New Roman"/>
              </a:rPr>
              <a:t>Authentication:</a:t>
            </a:r>
            <a:r>
              <a:rPr lang="en-US" sz="2100">
                <a:solidFill>
                  <a:schemeClr val="dk1"/>
                </a:solidFill>
                <a:latin typeface="Times New Roman"/>
                <a:ea typeface="Times New Roman"/>
                <a:cs typeface="Times New Roman"/>
                <a:sym typeface="Times New Roman"/>
              </a:rPr>
              <a:t> JWT‑based authentication to ensure safe and authorized user access</a:t>
            </a:r>
            <a:endParaRPr sz="2100">
              <a:solidFill>
                <a:schemeClr val="dk1"/>
              </a:solidFill>
              <a:latin typeface="Times New Roman"/>
              <a:ea typeface="Times New Roman"/>
              <a:cs typeface="Times New Roman"/>
              <a:sym typeface="Times New Roman"/>
            </a:endParaRPr>
          </a:p>
          <a:p>
            <a:pPr indent="-361950" lvl="0" marL="457200" rtl="0" algn="l">
              <a:lnSpc>
                <a:spcPct val="142857"/>
              </a:lnSpc>
              <a:spcBef>
                <a:spcPts val="0"/>
              </a:spcBef>
              <a:spcAft>
                <a:spcPts val="0"/>
              </a:spcAft>
              <a:buClr>
                <a:schemeClr val="dk1"/>
              </a:buClr>
              <a:buSzPts val="2100"/>
              <a:buFont typeface="Times New Roman"/>
              <a:buChar char="●"/>
            </a:pPr>
            <a:r>
              <a:rPr b="1" lang="en-US" sz="2100">
                <a:solidFill>
                  <a:schemeClr val="dk1"/>
                </a:solidFill>
                <a:latin typeface="Times New Roman"/>
                <a:ea typeface="Times New Roman"/>
                <a:cs typeface="Times New Roman"/>
                <a:sym typeface="Times New Roman"/>
              </a:rPr>
              <a:t>API Communication:</a:t>
            </a:r>
            <a:r>
              <a:rPr lang="en-US" sz="2100">
                <a:solidFill>
                  <a:schemeClr val="dk1"/>
                </a:solidFill>
                <a:latin typeface="Times New Roman"/>
                <a:ea typeface="Times New Roman"/>
                <a:cs typeface="Times New Roman"/>
                <a:sym typeface="Times New Roman"/>
              </a:rPr>
              <a:t> RESTful APIs for efficient and consistent data exchange between client and server</a:t>
            </a:r>
            <a:endParaRPr sz="2100">
              <a:solidFill>
                <a:schemeClr val="dk1"/>
              </a:solidFill>
              <a:latin typeface="Times New Roman"/>
              <a:ea typeface="Times New Roman"/>
              <a:cs typeface="Times New Roman"/>
              <a:sym typeface="Times New Roman"/>
            </a:endParaRPr>
          </a:p>
          <a:p>
            <a:pPr indent="-361950" lvl="0" marL="457200" rtl="0" algn="l">
              <a:lnSpc>
                <a:spcPct val="150000"/>
              </a:lnSpc>
              <a:spcBef>
                <a:spcPts val="0"/>
              </a:spcBef>
              <a:spcAft>
                <a:spcPts val="0"/>
              </a:spcAft>
              <a:buClr>
                <a:srgbClr val="0A0A0A"/>
              </a:buClr>
              <a:buSzPts val="2100"/>
              <a:buChar char="●"/>
            </a:pPr>
            <a:r>
              <a:rPr b="1" lang="en-US" sz="2100">
                <a:solidFill>
                  <a:srgbClr val="0A0A0A"/>
                </a:solidFill>
                <a:highlight>
                  <a:srgbClr val="FFFFFF"/>
                </a:highlight>
                <a:latin typeface="Times New Roman"/>
                <a:ea typeface="Times New Roman"/>
                <a:cs typeface="Times New Roman"/>
                <a:sym typeface="Times New Roman"/>
              </a:rPr>
              <a:t>Generative AI:</a:t>
            </a:r>
            <a:r>
              <a:rPr lang="en-US" sz="2100">
                <a:solidFill>
                  <a:srgbClr val="0A0A0A"/>
                </a:solidFill>
                <a:highlight>
                  <a:srgbClr val="FFFFFF"/>
                </a:highlight>
                <a:latin typeface="Times New Roman"/>
                <a:ea typeface="Times New Roman"/>
                <a:cs typeface="Times New Roman"/>
                <a:sym typeface="Times New Roman"/>
              </a:rPr>
              <a:t> Integrated AI models to provide automated summaries and smart tagging for a more personalized learning experience.</a:t>
            </a:r>
            <a:endParaRPr sz="2100">
              <a:solidFill>
                <a:srgbClr val="0A0A0A"/>
              </a:solidFill>
              <a:highlight>
                <a:srgbClr val="FFFFFF"/>
              </a:highlight>
              <a:latin typeface="Times New Roman"/>
              <a:ea typeface="Times New Roman"/>
              <a:cs typeface="Times New Roman"/>
              <a:sym typeface="Times New Roman"/>
            </a:endParaRPr>
          </a:p>
          <a:p>
            <a:pPr indent="0" lvl="0" marL="457200" rtl="0" algn="l">
              <a:lnSpc>
                <a:spcPct val="142857"/>
              </a:lnSpc>
              <a:spcBef>
                <a:spcPts val="2100"/>
              </a:spcBef>
              <a:spcAft>
                <a:spcPts val="0"/>
              </a:spcAft>
              <a:buNone/>
            </a:pPr>
            <a:r>
              <a:t/>
            </a:r>
            <a:endParaRPr sz="2100">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sz="2100">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1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9f80ca6194_0_17"/>
          <p:cNvSpPr txBox="1"/>
          <p:nvPr/>
        </p:nvSpPr>
        <p:spPr>
          <a:xfrm>
            <a:off x="64725" y="191100"/>
            <a:ext cx="6395700" cy="64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Problem Statement And Objective</a:t>
            </a:r>
            <a:endParaRPr b="0" i="0" sz="3200" u="none" cap="none" strike="noStrike">
              <a:solidFill>
                <a:schemeClr val="dk1"/>
              </a:solidFill>
              <a:latin typeface="Times New Roman"/>
              <a:ea typeface="Times New Roman"/>
              <a:cs typeface="Times New Roman"/>
              <a:sym typeface="Times New Roman"/>
            </a:endParaRPr>
          </a:p>
        </p:txBody>
      </p:sp>
      <p:sp>
        <p:nvSpPr>
          <p:cNvPr id="105" name="Google Shape;105;g39f80ca6194_0_17"/>
          <p:cNvSpPr txBox="1"/>
          <p:nvPr/>
        </p:nvSpPr>
        <p:spPr>
          <a:xfrm>
            <a:off x="64725" y="838500"/>
            <a:ext cx="8741400" cy="641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200" u="sng" cap="none" strike="noStrike">
                <a:solidFill>
                  <a:srgbClr val="000000"/>
                </a:solidFill>
                <a:latin typeface="Times New Roman"/>
                <a:ea typeface="Times New Roman"/>
                <a:cs typeface="Times New Roman"/>
                <a:sym typeface="Times New Roman"/>
              </a:rPr>
              <a:t>Problem Statement:</a:t>
            </a:r>
            <a:endParaRPr b="1" sz="2200" u="sng">
              <a:latin typeface="Times New Roman"/>
              <a:ea typeface="Times New Roman"/>
              <a:cs typeface="Times New Roman"/>
              <a:sym typeface="Times New Roman"/>
            </a:endParaRPr>
          </a:p>
          <a:p>
            <a:pPr indent="0" lvl="0" marL="0" rtl="0" algn="l">
              <a:lnSpc>
                <a:spcPct val="142857"/>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Organizations often lack a structured system for interns and professionals to record their daily learning and activities. As a result, progress tracking becomes inconsistent, documentation is scattered, and managers have limited visibility into day‑to‑day performance. This reduces accountability, affects productivity, and weakens the overall learning culture. A centralized platform is needed to ensure organized logging, transparency, and continuous learning.</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i="0" lang="en-US" sz="2200" u="sng" cap="none" strike="noStrike">
                <a:solidFill>
                  <a:srgbClr val="000000"/>
                </a:solidFill>
                <a:latin typeface="Times New Roman"/>
                <a:ea typeface="Times New Roman"/>
                <a:cs typeface="Times New Roman"/>
                <a:sym typeface="Times New Roman"/>
              </a:rPr>
              <a:t>Objectives:</a:t>
            </a:r>
            <a:endParaRPr b="1" i="0" sz="2200" u="sng" cap="none" strike="noStrike">
              <a:solidFill>
                <a:srgbClr val="000000"/>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Create a centralized platform for structured daily learning logs.</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Improve accountability and productivity through consistent tracking.</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Enable secure, role‑based access for interns, mentors, and admins.</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Support easy communication and timely feedback.</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Provide real‑time visibility into progress for better monitoring.</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Strengthen organizational learning culture through regular documentation</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9f80ca6194_0_25"/>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Implementation</a:t>
            </a:r>
            <a:endParaRPr b="0" i="0" sz="3200" u="none" cap="none" strike="noStrike">
              <a:solidFill>
                <a:schemeClr val="dk1"/>
              </a:solidFill>
              <a:latin typeface="Times New Roman"/>
              <a:ea typeface="Times New Roman"/>
              <a:cs typeface="Times New Roman"/>
              <a:sym typeface="Times New Roman"/>
            </a:endParaRPr>
          </a:p>
        </p:txBody>
      </p:sp>
      <p:sp>
        <p:nvSpPr>
          <p:cNvPr id="112" name="Google Shape;112;g39f80ca6194_0_25"/>
          <p:cNvSpPr txBox="1"/>
          <p:nvPr/>
        </p:nvSpPr>
        <p:spPr>
          <a:xfrm>
            <a:off x="49325" y="961650"/>
            <a:ext cx="8707200" cy="65109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0"/>
              </a:spcBef>
              <a:spcAft>
                <a:spcPts val="0"/>
              </a:spcAft>
              <a:buClr>
                <a:schemeClr val="dk1"/>
              </a:buClr>
              <a:buSzPts val="1100"/>
              <a:buFont typeface="Arial"/>
              <a:buNone/>
            </a:pPr>
            <a:r>
              <a:rPr lang="en-US" sz="1850">
                <a:solidFill>
                  <a:schemeClr val="dk1"/>
                </a:solidFill>
                <a:latin typeface="Times New Roman"/>
                <a:ea typeface="Times New Roman"/>
                <a:cs typeface="Times New Roman"/>
                <a:sym typeface="Times New Roman"/>
              </a:rPr>
              <a:t>• Gathered and documented requirements for creating a centralized system with role‑based access and daily learning logs.</a:t>
            </a:r>
            <a:endParaRPr sz="1850">
              <a:solidFill>
                <a:schemeClr val="dk1"/>
              </a:solidFill>
              <a:latin typeface="Times New Roman"/>
              <a:ea typeface="Times New Roman"/>
              <a:cs typeface="Times New Roman"/>
              <a:sym typeface="Times New Roman"/>
            </a:endParaRPr>
          </a:p>
          <a:p>
            <a:pPr indent="0" lvl="0" marL="0" rtl="0" algn="l">
              <a:lnSpc>
                <a:spcPct val="142857"/>
              </a:lnSpc>
              <a:spcBef>
                <a:spcPts val="0"/>
              </a:spcBef>
              <a:spcAft>
                <a:spcPts val="0"/>
              </a:spcAft>
              <a:buClr>
                <a:schemeClr val="dk1"/>
              </a:buClr>
              <a:buSzPts val="1100"/>
              <a:buFont typeface="Arial"/>
              <a:buNone/>
            </a:pPr>
            <a:r>
              <a:rPr lang="en-US" sz="1850">
                <a:solidFill>
                  <a:schemeClr val="dk1"/>
                </a:solidFill>
                <a:latin typeface="Times New Roman"/>
                <a:ea typeface="Times New Roman"/>
                <a:cs typeface="Times New Roman"/>
                <a:sym typeface="Times New Roman"/>
              </a:rPr>
              <a:t>• Designed the system architecture using Spring Boot for the backend, React.js for the frontend, and MySQL as the database.</a:t>
            </a:r>
            <a:endParaRPr sz="1850">
              <a:solidFill>
                <a:schemeClr val="dk1"/>
              </a:solidFill>
              <a:latin typeface="Times New Roman"/>
              <a:ea typeface="Times New Roman"/>
              <a:cs typeface="Times New Roman"/>
              <a:sym typeface="Times New Roman"/>
            </a:endParaRPr>
          </a:p>
          <a:p>
            <a:pPr indent="0" lvl="0" marL="0" rtl="0" algn="l">
              <a:lnSpc>
                <a:spcPct val="142857"/>
              </a:lnSpc>
              <a:spcBef>
                <a:spcPts val="0"/>
              </a:spcBef>
              <a:spcAft>
                <a:spcPts val="0"/>
              </a:spcAft>
              <a:buClr>
                <a:schemeClr val="dk1"/>
              </a:buClr>
              <a:buSzPts val="1100"/>
              <a:buFont typeface="Arial"/>
              <a:buNone/>
            </a:pPr>
            <a:r>
              <a:rPr lang="en-US" sz="1850">
                <a:solidFill>
                  <a:schemeClr val="dk1"/>
                </a:solidFill>
                <a:latin typeface="Times New Roman"/>
                <a:ea typeface="Times New Roman"/>
                <a:cs typeface="Times New Roman"/>
                <a:sym typeface="Times New Roman"/>
              </a:rPr>
              <a:t>• Created REST API endpoints, authentication flow using JWT, and database schema for users and log entries.</a:t>
            </a:r>
            <a:endParaRPr sz="1850">
              <a:solidFill>
                <a:schemeClr val="dk1"/>
              </a:solidFill>
              <a:latin typeface="Times New Roman"/>
              <a:ea typeface="Times New Roman"/>
              <a:cs typeface="Times New Roman"/>
              <a:sym typeface="Times New Roman"/>
            </a:endParaRPr>
          </a:p>
          <a:p>
            <a:pPr indent="0" lvl="0" marL="0" rtl="0" algn="l">
              <a:lnSpc>
                <a:spcPct val="142857"/>
              </a:lnSpc>
              <a:spcBef>
                <a:spcPts val="0"/>
              </a:spcBef>
              <a:spcAft>
                <a:spcPts val="0"/>
              </a:spcAft>
              <a:buClr>
                <a:schemeClr val="dk1"/>
              </a:buClr>
              <a:buSzPts val="1100"/>
              <a:buFont typeface="Arial"/>
              <a:buNone/>
            </a:pPr>
            <a:r>
              <a:rPr lang="en-US" sz="1850">
                <a:solidFill>
                  <a:schemeClr val="dk1"/>
                </a:solidFill>
                <a:latin typeface="Times New Roman"/>
                <a:ea typeface="Times New Roman"/>
                <a:cs typeface="Times New Roman"/>
                <a:sym typeface="Times New Roman"/>
              </a:rPr>
              <a:t>• Developed backend modules for login, user roles, and log management, along with frontend components for dashboards and daily entries.</a:t>
            </a:r>
            <a:endParaRPr sz="1850">
              <a:solidFill>
                <a:schemeClr val="dk1"/>
              </a:solidFill>
              <a:latin typeface="Times New Roman"/>
              <a:ea typeface="Times New Roman"/>
              <a:cs typeface="Times New Roman"/>
              <a:sym typeface="Times New Roman"/>
            </a:endParaRPr>
          </a:p>
          <a:p>
            <a:pPr indent="0" lvl="0" marL="0" rtl="0" algn="l">
              <a:lnSpc>
                <a:spcPct val="142857"/>
              </a:lnSpc>
              <a:spcBef>
                <a:spcPts val="0"/>
              </a:spcBef>
              <a:spcAft>
                <a:spcPts val="0"/>
              </a:spcAft>
              <a:buClr>
                <a:schemeClr val="dk1"/>
              </a:buClr>
              <a:buSzPts val="1100"/>
              <a:buFont typeface="Arial"/>
              <a:buNone/>
            </a:pPr>
            <a:r>
              <a:rPr lang="en-US" sz="1850">
                <a:solidFill>
                  <a:schemeClr val="dk1"/>
                </a:solidFill>
                <a:latin typeface="Times New Roman"/>
                <a:ea typeface="Times New Roman"/>
                <a:cs typeface="Times New Roman"/>
                <a:sym typeface="Times New Roman"/>
              </a:rPr>
              <a:t>• Integrated frontend and backend through RESTful APIs to ensure smooth and secure data communication.</a:t>
            </a:r>
            <a:endParaRPr sz="1850">
              <a:solidFill>
                <a:schemeClr val="dk1"/>
              </a:solidFill>
              <a:latin typeface="Times New Roman"/>
              <a:ea typeface="Times New Roman"/>
              <a:cs typeface="Times New Roman"/>
              <a:sym typeface="Times New Roman"/>
            </a:endParaRPr>
          </a:p>
          <a:p>
            <a:pPr indent="0" lvl="0" marL="0" rtl="0" algn="l">
              <a:lnSpc>
                <a:spcPct val="142857"/>
              </a:lnSpc>
              <a:spcBef>
                <a:spcPts val="0"/>
              </a:spcBef>
              <a:spcAft>
                <a:spcPts val="0"/>
              </a:spcAft>
              <a:buClr>
                <a:schemeClr val="dk1"/>
              </a:buClr>
              <a:buSzPts val="1100"/>
              <a:buFont typeface="Arial"/>
              <a:buNone/>
            </a:pPr>
            <a:r>
              <a:rPr lang="en-US" sz="1850">
                <a:solidFill>
                  <a:schemeClr val="dk1"/>
                </a:solidFill>
                <a:latin typeface="Times New Roman"/>
                <a:ea typeface="Times New Roman"/>
                <a:cs typeface="Times New Roman"/>
                <a:sym typeface="Times New Roman"/>
              </a:rPr>
              <a:t>• Performed manual and automated testing to verify functionality, data accuracy, and user experience.</a:t>
            </a:r>
            <a:endParaRPr sz="1850">
              <a:solidFill>
                <a:schemeClr val="dk1"/>
              </a:solidFill>
              <a:latin typeface="Times New Roman"/>
              <a:ea typeface="Times New Roman"/>
              <a:cs typeface="Times New Roman"/>
              <a:sym typeface="Times New Roman"/>
            </a:endParaRPr>
          </a:p>
          <a:p>
            <a:pPr indent="0" lvl="0" marL="0" rtl="0" algn="l">
              <a:lnSpc>
                <a:spcPct val="142857"/>
              </a:lnSpc>
              <a:spcBef>
                <a:spcPts val="0"/>
              </a:spcBef>
              <a:spcAft>
                <a:spcPts val="0"/>
              </a:spcAft>
              <a:buClr>
                <a:schemeClr val="dk1"/>
              </a:buClr>
              <a:buSzPts val="1100"/>
              <a:buFont typeface="Arial"/>
              <a:buNone/>
            </a:pPr>
            <a:r>
              <a:rPr lang="en-US" sz="1850">
                <a:solidFill>
                  <a:schemeClr val="dk1"/>
                </a:solidFill>
                <a:latin typeface="Times New Roman"/>
                <a:ea typeface="Times New Roman"/>
                <a:cs typeface="Times New Roman"/>
                <a:sym typeface="Times New Roman"/>
              </a:rPr>
              <a:t>• Optimized performance, improved validation, and refined UI elements for better usability and consistency.</a:t>
            </a:r>
            <a:endParaRPr sz="185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sz="2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d20560a75b_1_3"/>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pic>
        <p:nvPicPr>
          <p:cNvPr id="119" name="Google Shape;119;g3d20560a75b_1_3"/>
          <p:cNvPicPr preferRelativeResize="0"/>
          <p:nvPr/>
        </p:nvPicPr>
        <p:blipFill rotWithShape="1">
          <a:blip r:embed="rId3">
            <a:alphaModFix/>
          </a:blip>
          <a:srcRect b="1754" l="14716" r="18426" t="2936"/>
          <a:stretch/>
        </p:blipFill>
        <p:spPr>
          <a:xfrm>
            <a:off x="394575" y="1681625"/>
            <a:ext cx="3773474" cy="4133576"/>
          </a:xfrm>
          <a:prstGeom prst="rect">
            <a:avLst/>
          </a:prstGeom>
          <a:noFill/>
          <a:ln>
            <a:noFill/>
          </a:ln>
        </p:spPr>
      </p:pic>
      <p:pic>
        <p:nvPicPr>
          <p:cNvPr id="120" name="Google Shape;120;g3d20560a75b_1_3"/>
          <p:cNvPicPr preferRelativeResize="0"/>
          <p:nvPr/>
        </p:nvPicPr>
        <p:blipFill rotWithShape="1">
          <a:blip r:embed="rId4">
            <a:alphaModFix/>
          </a:blip>
          <a:srcRect b="0" l="7194" r="14010" t="0"/>
          <a:stretch/>
        </p:blipFill>
        <p:spPr>
          <a:xfrm>
            <a:off x="4669050" y="1681625"/>
            <a:ext cx="3616901" cy="4133574"/>
          </a:xfrm>
          <a:prstGeom prst="rect">
            <a:avLst/>
          </a:prstGeom>
          <a:noFill/>
          <a:ln>
            <a:noFill/>
          </a:ln>
        </p:spPr>
      </p:pic>
      <p:sp>
        <p:nvSpPr>
          <p:cNvPr id="121" name="Google Shape;121;g3d20560a75b_1_3"/>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Times New Roman"/>
                <a:ea typeface="Times New Roman"/>
                <a:cs typeface="Times New Roman"/>
                <a:sym typeface="Times New Roman"/>
              </a:rPr>
              <a:t>LOGIN / SIGNUP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d20560a75b_1_14"/>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28" name="Google Shape;128;g3d20560a75b_1_14"/>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Times New Roman"/>
                <a:ea typeface="Times New Roman"/>
                <a:cs typeface="Times New Roman"/>
                <a:sym typeface="Times New Roman"/>
              </a:rPr>
              <a:t>Home Page</a:t>
            </a:r>
            <a:endParaRPr/>
          </a:p>
        </p:txBody>
      </p:sp>
      <p:pic>
        <p:nvPicPr>
          <p:cNvPr id="129" name="Google Shape;129;g3d20560a75b_1_14"/>
          <p:cNvPicPr preferRelativeResize="0"/>
          <p:nvPr/>
        </p:nvPicPr>
        <p:blipFill>
          <a:blip r:embed="rId3">
            <a:alphaModFix/>
          </a:blip>
          <a:stretch>
            <a:fillRect/>
          </a:stretch>
        </p:blipFill>
        <p:spPr>
          <a:xfrm>
            <a:off x="152400" y="1635425"/>
            <a:ext cx="8839201" cy="42782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d20560a75b_1_31"/>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36" name="Google Shape;136;g3d20560a75b_1_31"/>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Times New Roman"/>
                <a:ea typeface="Times New Roman"/>
                <a:cs typeface="Times New Roman"/>
                <a:sym typeface="Times New Roman"/>
              </a:rPr>
              <a:t>Admin Dashboard</a:t>
            </a:r>
            <a:endParaRPr/>
          </a:p>
        </p:txBody>
      </p:sp>
      <p:pic>
        <p:nvPicPr>
          <p:cNvPr id="137" name="Google Shape;137;g3d20560a75b_1_31"/>
          <p:cNvPicPr preferRelativeResize="0"/>
          <p:nvPr/>
        </p:nvPicPr>
        <p:blipFill>
          <a:blip r:embed="rId3">
            <a:alphaModFix/>
          </a:blip>
          <a:stretch>
            <a:fillRect/>
          </a:stretch>
        </p:blipFill>
        <p:spPr>
          <a:xfrm>
            <a:off x="152400" y="1635425"/>
            <a:ext cx="8839199" cy="43530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d20560a75b_1_23"/>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44" name="Google Shape;144;g3d20560a75b_1_23"/>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Times New Roman"/>
                <a:ea typeface="Times New Roman"/>
                <a:cs typeface="Times New Roman"/>
                <a:sym typeface="Times New Roman"/>
              </a:rPr>
              <a:t>User’s Log</a:t>
            </a:r>
            <a:endParaRPr/>
          </a:p>
        </p:txBody>
      </p:sp>
      <p:pic>
        <p:nvPicPr>
          <p:cNvPr id="145" name="Google Shape;145;g3d20560a75b_1_23"/>
          <p:cNvPicPr preferRelativeResize="0"/>
          <p:nvPr/>
        </p:nvPicPr>
        <p:blipFill>
          <a:blip r:embed="rId3">
            <a:alphaModFix/>
          </a:blip>
          <a:stretch>
            <a:fillRect/>
          </a:stretch>
        </p:blipFill>
        <p:spPr>
          <a:xfrm>
            <a:off x="1924863" y="1483025"/>
            <a:ext cx="4820225" cy="49845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d20560a75b_1_44"/>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52" name="Google Shape;152;g3d20560a75b_1_44"/>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Times New Roman"/>
                <a:ea typeface="Times New Roman"/>
                <a:cs typeface="Times New Roman"/>
                <a:sym typeface="Times New Roman"/>
              </a:rPr>
              <a:t>AI Chatbot</a:t>
            </a:r>
            <a:endParaRPr/>
          </a:p>
        </p:txBody>
      </p:sp>
      <p:pic>
        <p:nvPicPr>
          <p:cNvPr id="153" name="Google Shape;153;g3d20560a75b_1_44"/>
          <p:cNvPicPr preferRelativeResize="0"/>
          <p:nvPr/>
        </p:nvPicPr>
        <p:blipFill>
          <a:blip r:embed="rId3">
            <a:alphaModFix/>
          </a:blip>
          <a:stretch>
            <a:fillRect/>
          </a:stretch>
        </p:blipFill>
        <p:spPr>
          <a:xfrm>
            <a:off x="152400" y="1635425"/>
            <a:ext cx="8839197" cy="43198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20560a75b_1_52"/>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60" name="Google Shape;160;g3d20560a75b_1_52"/>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Times New Roman"/>
                <a:ea typeface="Times New Roman"/>
                <a:cs typeface="Times New Roman"/>
                <a:sym typeface="Times New Roman"/>
              </a:rPr>
              <a:t>Java Compiler </a:t>
            </a:r>
            <a:endParaRPr/>
          </a:p>
        </p:txBody>
      </p:sp>
      <p:pic>
        <p:nvPicPr>
          <p:cNvPr id="161" name="Google Shape;161;g3d20560a75b_1_52"/>
          <p:cNvPicPr preferRelativeResize="0"/>
          <p:nvPr/>
        </p:nvPicPr>
        <p:blipFill>
          <a:blip r:embed="rId3">
            <a:alphaModFix/>
          </a:blip>
          <a:stretch>
            <a:fillRect/>
          </a:stretch>
        </p:blipFill>
        <p:spPr>
          <a:xfrm>
            <a:off x="152400" y="1635425"/>
            <a:ext cx="8839201" cy="4430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9f80ca6194_0_33"/>
          <p:cNvSpPr txBox="1"/>
          <p:nvPr/>
        </p:nvSpPr>
        <p:spPr>
          <a:xfrm>
            <a:off x="110950" y="206500"/>
            <a:ext cx="5625000" cy="52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Result</a:t>
            </a:r>
            <a:endParaRPr b="0" i="0" sz="3200" u="none" cap="none" strike="noStrike">
              <a:solidFill>
                <a:schemeClr val="dk1"/>
              </a:solidFill>
              <a:latin typeface="Times New Roman"/>
              <a:ea typeface="Times New Roman"/>
              <a:cs typeface="Times New Roman"/>
              <a:sym typeface="Times New Roman"/>
            </a:endParaRPr>
          </a:p>
        </p:txBody>
      </p:sp>
      <p:sp>
        <p:nvSpPr>
          <p:cNvPr id="168" name="Google Shape;168;g39f80ca6194_0_33"/>
          <p:cNvSpPr txBox="1"/>
          <p:nvPr/>
        </p:nvSpPr>
        <p:spPr>
          <a:xfrm>
            <a:off x="0" y="896800"/>
            <a:ext cx="8833800" cy="61194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Centralized Documentation:</a:t>
            </a:r>
            <a:r>
              <a:rPr lang="en-US" sz="1800">
                <a:solidFill>
                  <a:schemeClr val="dk1"/>
                </a:solidFill>
                <a:latin typeface="Times New Roman"/>
                <a:ea typeface="Times New Roman"/>
                <a:cs typeface="Times New Roman"/>
                <a:sym typeface="Times New Roman"/>
              </a:rPr>
              <a:t> All daily learning logs and activities are stored in one secure platform, reducing scattered notes and improving consistency.</a:t>
            </a:r>
            <a:endParaRPr sz="180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Improved Transparency:</a:t>
            </a:r>
            <a:r>
              <a:rPr lang="en-US" sz="1800">
                <a:solidFill>
                  <a:schemeClr val="dk1"/>
                </a:solidFill>
                <a:latin typeface="Times New Roman"/>
                <a:ea typeface="Times New Roman"/>
                <a:cs typeface="Times New Roman"/>
                <a:sym typeface="Times New Roman"/>
              </a:rPr>
              <a:t> Managers and mentors gain clear visibility into each intern’s progress, enabling timely feedback and better monitoring.</a:t>
            </a:r>
            <a:endParaRPr sz="180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Enhanced Collaboration:</a:t>
            </a:r>
            <a:r>
              <a:rPr lang="en-US" sz="1800">
                <a:solidFill>
                  <a:schemeClr val="dk1"/>
                </a:solidFill>
                <a:latin typeface="Times New Roman"/>
                <a:ea typeface="Times New Roman"/>
                <a:cs typeface="Times New Roman"/>
                <a:sym typeface="Times New Roman"/>
              </a:rPr>
              <a:t> Users can view others’ logs (based on permissions), helping them catch up on missed concepts and learn from different approaches.</a:t>
            </a:r>
            <a:endParaRPr sz="180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Higher Accountability:</a:t>
            </a:r>
            <a:r>
              <a:rPr lang="en-US" sz="1800">
                <a:solidFill>
                  <a:schemeClr val="dk1"/>
                </a:solidFill>
                <a:latin typeface="Times New Roman"/>
                <a:ea typeface="Times New Roman"/>
                <a:cs typeface="Times New Roman"/>
                <a:sym typeface="Times New Roman"/>
              </a:rPr>
              <a:t> Built‑in reminders encourage users to maintain regular updates, improving discipline and continuity in learning.</a:t>
            </a:r>
            <a:endParaRPr sz="180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Better Productivity:</a:t>
            </a:r>
            <a:r>
              <a:rPr lang="en-US" sz="1800">
                <a:solidFill>
                  <a:schemeClr val="dk1"/>
                </a:solidFill>
                <a:latin typeface="Times New Roman"/>
                <a:ea typeface="Times New Roman"/>
                <a:cs typeface="Times New Roman"/>
                <a:sym typeface="Times New Roman"/>
              </a:rPr>
              <a:t> Structured logging and role‑based access reduce manual tracking effort and streamline communication between interns and administrators.</a:t>
            </a:r>
            <a:endParaRPr sz="180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Organized Learning Culture:</a:t>
            </a:r>
            <a:r>
              <a:rPr lang="en-US" sz="1800">
                <a:solidFill>
                  <a:schemeClr val="dk1"/>
                </a:solidFill>
                <a:latin typeface="Times New Roman"/>
                <a:ea typeface="Times New Roman"/>
                <a:cs typeface="Times New Roman"/>
                <a:sym typeface="Times New Roman"/>
              </a:rPr>
              <a:t> The platform supports a more systematic, accountable, and growth‑focused learning environment within the organization.</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1100"/>
              </a:spcBef>
              <a:spcAft>
                <a:spcPts val="0"/>
              </a:spcAft>
              <a:buClr>
                <a:srgbClr val="000000"/>
              </a:buClr>
              <a:buSzPts val="2200"/>
              <a:buFont typeface="Arial"/>
              <a:buNone/>
            </a:pPr>
            <a:r>
              <a:t/>
            </a:r>
            <a:endParaRPr sz="22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9f80ca6194_0_41"/>
          <p:cNvSpPr txBox="1"/>
          <p:nvPr/>
        </p:nvSpPr>
        <p:spPr>
          <a:xfrm>
            <a:off x="64725" y="83225"/>
            <a:ext cx="5625000" cy="7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Conclusion</a:t>
            </a:r>
            <a:endParaRPr b="0" i="0" sz="3200" u="none" cap="none" strike="noStrike">
              <a:solidFill>
                <a:schemeClr val="dk1"/>
              </a:solidFill>
              <a:latin typeface="Times New Roman"/>
              <a:ea typeface="Times New Roman"/>
              <a:cs typeface="Times New Roman"/>
              <a:sym typeface="Times New Roman"/>
            </a:endParaRPr>
          </a:p>
        </p:txBody>
      </p:sp>
      <p:sp>
        <p:nvSpPr>
          <p:cNvPr id="175" name="Google Shape;175;g39f80ca6194_0_41"/>
          <p:cNvSpPr txBox="1"/>
          <p:nvPr/>
        </p:nvSpPr>
        <p:spPr>
          <a:xfrm>
            <a:off x="0" y="1089300"/>
            <a:ext cx="7801200" cy="4815600"/>
          </a:xfrm>
          <a:prstGeom prst="rect">
            <a:avLst/>
          </a:prstGeom>
          <a:noFill/>
          <a:ln>
            <a:noFill/>
          </a:ln>
        </p:spPr>
        <p:txBody>
          <a:bodyPr anchorCtr="0" anchor="t" bIns="91425" lIns="91425" spcFirstLastPara="1" rIns="91425" wrap="square" tIns="91425">
            <a:spAutoFit/>
          </a:bodyPr>
          <a:lstStyle/>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Learning Log project successfully delivered a centralized and secure platform for documenting daily learning activities within an organization. By replacing scattered manual methods with a structured system, it improved consistency, visibility, and accountability among interns and employees. Role‑based access, organized dashboards, and reminder features enhanced productivity and encouraged continuous learning. Overall, the platform strengthened communication between users and administrators while fostering a more transparent and disciplined learning culture.</a:t>
            </a:r>
            <a:endParaRPr sz="1800">
              <a:solidFill>
                <a:schemeClr val="dk1"/>
              </a:solidFill>
              <a:latin typeface="Times New Roman"/>
              <a:ea typeface="Times New Roman"/>
              <a:cs typeface="Times New Roman"/>
              <a:sym typeface="Times New Roman"/>
            </a:endParaRPr>
          </a:p>
          <a:p>
            <a:pPr indent="-317500" lvl="0" marL="457200" rtl="0" algn="l">
              <a:lnSpc>
                <a:spcPct val="142857"/>
              </a:lnSpc>
              <a:spcBef>
                <a:spcPts val="0"/>
              </a:spcBef>
              <a:spcAft>
                <a:spcPts val="0"/>
              </a:spcAft>
              <a:buClr>
                <a:schemeClr val="dk1"/>
              </a:buClr>
              <a:buSzPts val="1400"/>
              <a:buChar char="●"/>
            </a:pPr>
            <a:r>
              <a:rPr lang="en-US" sz="1800">
                <a:solidFill>
                  <a:schemeClr val="dk1"/>
                </a:solidFill>
                <a:latin typeface="Times New Roman"/>
                <a:ea typeface="Times New Roman"/>
                <a:cs typeface="Times New Roman"/>
                <a:sym typeface="Times New Roman"/>
              </a:rPr>
              <a:t>Overall, the project not only streamlined daily learning documentation but also contributed to building a more disciplined, productive, and growth‑oriented learning culture within the organization</a:t>
            </a:r>
            <a:r>
              <a:rPr lang="en-US" sz="1050">
                <a:solidFill>
                  <a:schemeClr val="dk1"/>
                </a:solidFill>
              </a:rPr>
              <a:t>.</a:t>
            </a:r>
            <a:endParaRPr sz="1050">
              <a:solidFill>
                <a:schemeClr val="dk1"/>
              </a:solidFill>
            </a:endParaRPr>
          </a:p>
          <a:p>
            <a:pPr indent="0" lvl="0" marL="0" marR="0" rtl="0" algn="l">
              <a:lnSpc>
                <a:spcPct val="100000"/>
              </a:lnSpc>
              <a:spcBef>
                <a:spcPts val="0"/>
              </a:spcBef>
              <a:spcAft>
                <a:spcPts val="0"/>
              </a:spcAft>
              <a:buClr>
                <a:srgbClr val="000000"/>
              </a:buClr>
              <a:buSzPts val="1900"/>
              <a:buFont typeface="Arial"/>
              <a:buNone/>
            </a:pPr>
            <a:r>
              <a:t/>
            </a:r>
            <a:endParaRPr sz="18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e69d9d67c9_0_0"/>
          <p:cNvSpPr txBox="1"/>
          <p:nvPr/>
        </p:nvSpPr>
        <p:spPr>
          <a:xfrm>
            <a:off x="64725" y="83225"/>
            <a:ext cx="5625000" cy="7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Future Scope</a:t>
            </a:r>
            <a:endParaRPr b="0" i="0" sz="3200" u="none" cap="none" strike="noStrike">
              <a:solidFill>
                <a:schemeClr val="dk1"/>
              </a:solidFill>
              <a:latin typeface="Times New Roman"/>
              <a:ea typeface="Times New Roman"/>
              <a:cs typeface="Times New Roman"/>
              <a:sym typeface="Times New Roman"/>
            </a:endParaRPr>
          </a:p>
        </p:txBody>
      </p:sp>
      <p:sp>
        <p:nvSpPr>
          <p:cNvPr id="182" name="Google Shape;182;g3e69d9d67c9_0_0"/>
          <p:cNvSpPr txBox="1"/>
          <p:nvPr/>
        </p:nvSpPr>
        <p:spPr>
          <a:xfrm>
            <a:off x="64725" y="926625"/>
            <a:ext cx="8692500" cy="572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Times New Roman"/>
                <a:ea typeface="Times New Roman"/>
                <a:cs typeface="Times New Roman"/>
                <a:sym typeface="Times New Roman"/>
              </a:rPr>
              <a:t>The Learning Log System can be further enhanced to provide a more intelligent and engaging learning experience. Some potential improvements are:</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1. </a:t>
            </a:r>
            <a:r>
              <a:rPr b="1" lang="en-US" sz="1800">
                <a:latin typeface="Times New Roman"/>
                <a:ea typeface="Times New Roman"/>
                <a:cs typeface="Times New Roman"/>
                <a:sym typeface="Times New Roman"/>
              </a:rPr>
              <a:t>AI-Powered Learning Assistance</a:t>
            </a:r>
            <a:endParaRPr b="1"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The system can be integrated with AI models to generate automatic summaries of daily logs, provide personalized study recommendations, and identify weak areas. This will help users learn more efficiently and maintain consistency.</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2. </a:t>
            </a:r>
            <a:r>
              <a:rPr b="1" lang="en-US" sz="1800">
                <a:latin typeface="Times New Roman"/>
                <a:ea typeface="Times New Roman"/>
                <a:cs typeface="Times New Roman"/>
                <a:sym typeface="Times New Roman"/>
              </a:rPr>
              <a:t>Advanced Analytics Dashboard</a:t>
            </a:r>
            <a:endParaRPr b="1"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Future versions can include detailed insights such as weekly and monthly performance trends, subject-wise analysis, and productivity tracking. Visual tools like graphs and heatmaps can help users better understand their progress.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3. </a:t>
            </a:r>
            <a:r>
              <a:rPr b="1" lang="en-US" sz="1800">
                <a:latin typeface="Times New Roman"/>
                <a:ea typeface="Times New Roman"/>
                <a:cs typeface="Times New Roman"/>
                <a:sym typeface="Times New Roman"/>
              </a:rPr>
              <a:t>Social and Collaborative Features</a:t>
            </a:r>
            <a:endParaRPr b="1"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The platform can be expanded to include community features such as sharing learning logs, participating in group discussions, and maintaining learning streaks. This will encourage peer interaction and accountability.</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These enhancements can transform the system from a simple tracking tool into a comprehensive learning and productivity platform.</a:t>
            </a:r>
            <a:endParaRPr sz="1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9f80ca6194_0_49"/>
          <p:cNvSpPr txBox="1"/>
          <p:nvPr/>
        </p:nvSpPr>
        <p:spPr>
          <a:xfrm>
            <a:off x="95550" y="175700"/>
            <a:ext cx="5070300" cy="50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Reference</a:t>
            </a:r>
            <a:endParaRPr b="0" i="0" sz="3200" u="none" cap="none" strike="noStrike">
              <a:solidFill>
                <a:schemeClr val="dk1"/>
              </a:solidFill>
              <a:latin typeface="Times New Roman"/>
              <a:ea typeface="Times New Roman"/>
              <a:cs typeface="Times New Roman"/>
              <a:sym typeface="Times New Roman"/>
            </a:endParaRPr>
          </a:p>
        </p:txBody>
      </p:sp>
      <p:sp>
        <p:nvSpPr>
          <p:cNvPr id="189" name="Google Shape;189;g39f80ca6194_0_49"/>
          <p:cNvSpPr txBox="1"/>
          <p:nvPr/>
        </p:nvSpPr>
        <p:spPr>
          <a:xfrm>
            <a:off x="0" y="1125025"/>
            <a:ext cx="7862700" cy="3996300"/>
          </a:xfrm>
          <a:prstGeom prst="rect">
            <a:avLst/>
          </a:prstGeom>
          <a:noFill/>
          <a:ln>
            <a:noFill/>
          </a:ln>
        </p:spPr>
        <p:txBody>
          <a:bodyPr anchorCtr="0" anchor="t" bIns="91425" lIns="91425" spcFirstLastPara="1" rIns="91425" wrap="square" tIns="91425">
            <a:spAutoFit/>
          </a:bodyPr>
          <a:lstStyle/>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Spring Boot Official Documentation(spring init) – Backend development and REST API guidelines.</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React.js Official Documentation – UI components and frontend architecture.</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MySQL Documentation – Database design and query management.</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JWT Documentation – Token‑based authentication standards.</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Visual Studio Code Documentation – Development and debugging resources.</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Selenium Documentation – Automation testing reference.</a:t>
            </a:r>
            <a:endParaRPr sz="1800">
              <a:solidFill>
                <a:schemeClr val="dk1"/>
              </a:solidFill>
              <a:latin typeface="Times New Roman"/>
              <a:ea typeface="Times New Roman"/>
              <a:cs typeface="Times New Roman"/>
              <a:sym typeface="Times New Roman"/>
            </a:endParaRPr>
          </a:p>
          <a:p>
            <a:pPr indent="-342900" lvl="0" marL="457200" rtl="0" algn="l">
              <a:lnSpc>
                <a:spcPct val="142857"/>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Articles and case studies on learning platforms and digital activity‑tracking systems.</a:t>
            </a:r>
            <a:endParaRPr sz="1800">
              <a:solidFill>
                <a:schemeClr val="dk1"/>
              </a:solidFill>
              <a:latin typeface="Times New Roman"/>
              <a:ea typeface="Times New Roman"/>
              <a:cs typeface="Times New Roman"/>
              <a:sym typeface="Times New Roman"/>
            </a:endParaRPr>
          </a:p>
          <a:p>
            <a:pPr indent="0" lvl="0" marL="457200" marR="0" rtl="0" algn="l">
              <a:lnSpc>
                <a:spcPct val="9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5"/>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195" name="Google Shape;195;p5"/>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